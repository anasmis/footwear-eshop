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24688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54296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7724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500" b="1" i="0">
                <a:solidFill>
                  <a:srgbClr val="E9D5FF"/>
                </a:solidFill>
                <a:latin typeface="Segoe UI"/>
              </a:rPr>
              <a:t>GENIE MIS  •  DEVELOPPEMENT WEB AVEC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Segoe UI"/>
              </a:rPr>
              <a:t>E-Shop Django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10972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100" b="0" i="1">
                <a:solidFill>
                  <a:srgbClr val="E9D5FF"/>
                </a:solidFill>
                <a:latin typeface="Segoe UI"/>
              </a:rPr>
              <a:t>Architecture du systeme — conception, construction &amp; choix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2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Segoe UI"/>
              </a:rPr>
              <a:t>Realise par 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Ali Bouhamidi  &amp;  Said Aghrod</a:t>
            </a:r>
          </a:p>
          <a:p>
            <a:pPr algn="ctr">
              <a:spcBef>
                <a:spcPts val="700"/>
              </a:spcBef>
            </a:pPr>
            <a:r>
              <a:rPr sz="1500" b="0" i="0">
                <a:solidFill>
                  <a:srgbClr val="E9D5FF"/>
                </a:solidFill>
                <a:latin typeface="Segoe UI"/>
              </a:rPr>
              <a:t>Encadre par  </a:t>
            </a:r>
            <a:r>
              <a:rPr sz="1500" b="1" i="0">
                <a:solidFill>
                  <a:srgbClr val="E9D5FF"/>
                </a:solidFill>
                <a:latin typeface="Segoe UI"/>
              </a:rPr>
              <a:t>Prof. Bousselham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C4B5FD"/>
                </a:solidFill>
                <a:latin typeface="Segoe UI"/>
              </a:rPr>
              <a:t>Annee universitaire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CE QUE COUVRE CETTE PRESENTATION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Fil conducteur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411480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37160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Vue d'ensemble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L'architecture en un coup d'oeil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371600"/>
            <a:ext cx="411480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37160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Architecture en couches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Le patron MVT de Django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5176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65176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2651760"/>
            <a:ext cx="411480" cy="10789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5176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65176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Architecture modulaire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7 applications Django decouplees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5176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65176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2651760"/>
            <a:ext cx="411480" cy="10789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65176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5176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Cycle de vie d'une requete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Du navigateur a la base de donnees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93192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393192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3931920"/>
            <a:ext cx="411480" cy="10789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93192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Modele de donnees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Les entites metier &amp; relations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93192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393192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12280" y="3931920"/>
            <a:ext cx="411480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93192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93192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Stack &amp; justification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Chaque choix et son pourquoi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21208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" y="521208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7280" y="5212080"/>
            <a:ext cx="411480" cy="107899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21208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521208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Brique d'IA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Pipeline de recommandation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21208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5212080"/>
            <a:ext cx="914400" cy="1078992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12280" y="5212080"/>
            <a:ext cx="411480" cy="107899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212080"/>
            <a:ext cx="91440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212080"/>
            <a:ext cx="4206240" cy="107899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24242E"/>
                </a:solidFill>
                <a:latin typeface="Segoe UI"/>
              </a:rPr>
              <a:t>Securite &amp; deploiement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Defense en profondeur, Docker, CI/CD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01  •  VUE D'ENSEMBLE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L'architecture en un coup d'oeil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400" b="1" i="0">
                <a:solidFill>
                  <a:srgbClr val="24242E"/>
                </a:solidFill>
                <a:latin typeface="Segoe UI"/>
              </a:rPr>
              <a:t>Une architecture web 3-tiers conteneurisee : </a:t>
            </a:r>
            <a:r>
              <a:rPr sz="1400" b="0" i="0">
                <a:solidFill>
                  <a:srgbClr val="24242E"/>
                </a:solidFill>
                <a:latin typeface="Segoe UI"/>
              </a:rPr>
              <a:t>navigateur → reverse proxy → serveur d'application → base de donnees.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2032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1874519" cy="20116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85416"/>
            <a:ext cx="1874519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Navigateur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15768"/>
            <a:ext cx="1691639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Client HTTP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(Bootstrap 5)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97439" y="2651760"/>
            <a:ext cx="41148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148840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2423160"/>
            <a:ext cx="1874519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185416"/>
            <a:ext cx="1874519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715768"/>
            <a:ext cx="1691639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Reverse proxy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port 80 + statiques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74879" y="2651760"/>
            <a:ext cx="41148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57800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203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2148840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57800" y="2423160"/>
            <a:ext cx="1874519" cy="2011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185416"/>
            <a:ext cx="1874519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Gunicorn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715768"/>
            <a:ext cx="1691639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Serveur WSGI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3 workers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52319" y="2651760"/>
            <a:ext cx="41148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35240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240" y="2148840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2423160"/>
            <a:ext cx="1874519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185416"/>
            <a:ext cx="1874519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Django 5.0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715768"/>
            <a:ext cx="1691639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Logique metier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(MVT)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29759" y="2651760"/>
            <a:ext cx="41148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12680" y="214884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12680" y="2148840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12680" y="2423160"/>
            <a:ext cx="1874519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185416"/>
            <a:ext cx="1874519" cy="4389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PostgreSQL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2715768"/>
            <a:ext cx="1691639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Donnees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+ volume persistant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730752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200" b="0" i="1">
                <a:solidFill>
                  <a:srgbClr val="6B6B78"/>
                </a:solidFill>
                <a:latin typeface="Segoe UI"/>
              </a:rPr>
              <a:t>HTTP requete →   •   ← reponse HTML / JSON   •   fichiers statiques servis par Nginx + WhiteNoise   •   medias (Pillow)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7492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6F5FB"/>
          </a:solidFill>
          <a:ln w="177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74920"/>
            <a:ext cx="10607040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Segoe UI"/>
              </a:rPr>
              <a:t>Le tout orchestre par Docker Compose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24242E"/>
                </a:solidFill>
                <a:latin typeface="Segoe UI"/>
              </a:rPr>
              <a:t>3 conteneurs (nginx, web, db) sur un reseau interne  •  variables sensibles via .env  •  livraison automatisee par GitHub Actions → GHCR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02  •  COMMENT C'EST CONSTRUIT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en couches — le patron MVT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400" b="0" i="0">
                <a:solidFill>
                  <a:srgbClr val="24242E"/>
                </a:solidFill>
                <a:latin typeface="Segoe UI"/>
              </a:rPr>
              <a:t>Django impose une separation nette des responsabilites : </a:t>
            </a:r>
            <a:r>
              <a:rPr sz="1400" b="1" i="0">
                <a:solidFill>
                  <a:srgbClr val="7C3AED"/>
                </a:solidFill>
                <a:latin typeface="Segoe UI"/>
              </a:rPr>
              <a:t>Model – View –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969264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331720" cy="969264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0" y="1828800"/>
            <a:ext cx="502920" cy="9692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3317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01952"/>
            <a:ext cx="81381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24242E"/>
                </a:solidFill>
                <a:latin typeface="Segoe UI"/>
              </a:rPr>
              <a:t>Presentation  —  </a:t>
            </a:r>
            <a:r>
              <a:rPr sz="1250" b="0" i="0">
                <a:solidFill>
                  <a:srgbClr val="6B6B78"/>
                </a:solidFill>
                <a:latin typeface="Segoe UI"/>
              </a:rPr>
              <a:t>Templates Django + Bootstrap 5 — rendu HTML, responsive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2563EB"/>
                </a:solidFill>
                <a:latin typeface="Consolas"/>
              </a:rPr>
              <a:t>templates/  •  static/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798064"/>
            <a:ext cx="0" cy="109728"/>
          </a:xfrm>
          <a:prstGeom prst="bentConnector3">
            <a:avLst/>
          </a:prstGeom>
          <a:ln w="20320">
            <a:solidFill>
              <a:srgbClr val="DB2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907792"/>
            <a:ext cx="10881360" cy="969264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907792"/>
            <a:ext cx="2331720" cy="969264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907792"/>
            <a:ext cx="502920" cy="9692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07792"/>
            <a:ext cx="23317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80944"/>
            <a:ext cx="81381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24242E"/>
                </a:solidFill>
                <a:latin typeface="Segoe UI"/>
              </a:rPr>
              <a:t>Logique applicative  —  </a:t>
            </a:r>
            <a:r>
              <a:rPr sz="1250" b="0" i="0">
                <a:solidFill>
                  <a:srgbClr val="6B6B78"/>
                </a:solidFill>
                <a:latin typeface="Segoe UI"/>
              </a:rPr>
              <a:t>Vues = traitement de la requete, regles metier, orchestration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7C3AED"/>
                </a:solidFill>
                <a:latin typeface="Consolas"/>
              </a:rPr>
              <a:t>views.py  •  urls.py  •  forms.py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3877056"/>
            <a:ext cx="0" cy="109728"/>
          </a:xfrm>
          <a:prstGeom prst="bentConnector3">
            <a:avLst/>
          </a:prstGeom>
          <a:ln w="20320">
            <a:solidFill>
              <a:srgbClr val="DB2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986784"/>
            <a:ext cx="10881360" cy="969264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86784"/>
            <a:ext cx="2331720" cy="969264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986784"/>
            <a:ext cx="502920" cy="9692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86784"/>
            <a:ext cx="23317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59936"/>
            <a:ext cx="81381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24242E"/>
                </a:solidFill>
                <a:latin typeface="Segoe UI"/>
              </a:rPr>
              <a:t>Acces aux donnees (ORM)  —  </a:t>
            </a:r>
            <a:r>
              <a:rPr sz="1250" b="0" i="0">
                <a:solidFill>
                  <a:srgbClr val="6B6B78"/>
                </a:solidFill>
                <a:latin typeface="Segoe UI"/>
              </a:rPr>
              <a:t>Modeles Django — mapping objet-relationnel, requetes, migrations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D97706"/>
                </a:solidFill>
                <a:latin typeface="Consolas"/>
              </a:rPr>
              <a:t>models.py  •  migrations/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4956048"/>
            <a:ext cx="0" cy="109728"/>
          </a:xfrm>
          <a:prstGeom prst="bentConnector3">
            <a:avLst/>
          </a:prstGeom>
          <a:ln w="20320">
            <a:solidFill>
              <a:srgbClr val="DB2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065776"/>
            <a:ext cx="10881360" cy="969264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065776"/>
            <a:ext cx="2331720" cy="969264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68880" y="5065776"/>
            <a:ext cx="502920" cy="9692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65776"/>
            <a:ext cx="2331720" cy="96926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BASE DE DONNEES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138928"/>
            <a:ext cx="81381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24242E"/>
                </a:solidFill>
                <a:latin typeface="Segoe UI"/>
              </a:rPr>
              <a:t>Persistance  —  </a:t>
            </a:r>
            <a:r>
              <a:rPr sz="1250" b="0" i="0">
                <a:solidFill>
                  <a:srgbClr val="6B6B78"/>
                </a:solidFill>
                <a:latin typeface="Segoe UI"/>
              </a:rPr>
              <a:t>PostgreSQL 16 en production (SQLite en developpement local)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0D9488"/>
                </a:solidFill>
                <a:latin typeface="Consolas"/>
              </a:rPr>
              <a:t>tables relationnelles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03  •  COMMENT C'EST CONSTRUIT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modulaire — 7 applications decouplees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350" b="0" i="0">
                <a:solidFill>
                  <a:srgbClr val="24242E"/>
                </a:solidFill>
                <a:latin typeface="Segoe UI"/>
              </a:rPr>
              <a:t>Chaque domaine metier est isole dans une application Django dediee </a:t>
            </a:r>
            <a:r>
              <a:rPr sz="1350" b="1" i="0">
                <a:solidFill>
                  <a:srgbClr val="7C3AED"/>
                </a:solidFill>
                <a:latin typeface="Segoe UI"/>
              </a:rPr>
              <a:t>→ separation des responsabilites &amp; maintenabilite.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783080"/>
            <a:ext cx="4114800" cy="64008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411480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ecommerce_project</a:t>
            </a:r>
          </a:p>
          <a:p>
            <a:pPr algn="ctr"/>
            <a:r>
              <a:rPr sz="1050" b="0" i="0">
                <a:solidFill>
                  <a:srgbClr val="E9D5FF"/>
                </a:solidFill>
                <a:latin typeface="Segoe UI"/>
              </a:rPr>
              <a:t>settings  •  urls  •  wsgi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44368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Consolas"/>
              </a:rPr>
              <a:t>accounts/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24242E"/>
                </a:solidFill>
                <a:latin typeface="Segoe UI"/>
              </a:rPr>
              <a:t>Utilisateurs, inscription,</a:t>
            </a:r>
          </a:p>
          <a:p>
            <a:r>
              <a:rPr sz="1150" b="0" i="0">
                <a:solidFill>
                  <a:srgbClr val="24242E"/>
                </a:solidFill>
                <a:latin typeface="Segoe UI"/>
              </a:rPr>
              <a:t>connexion, profils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74320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2272" y="2743200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944368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products/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24242E"/>
                </a:solidFill>
                <a:latin typeface="Segoe UI"/>
              </a:rPr>
              <a:t>Produits, categories,</a:t>
            </a:r>
          </a:p>
          <a:p>
            <a:r>
              <a:rPr sz="1150" b="0" i="0">
                <a:solidFill>
                  <a:srgbClr val="24242E"/>
                </a:solidFill>
                <a:latin typeface="Segoe UI"/>
              </a:rPr>
              <a:t>recherche, filtres, avis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274320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38744" y="2743200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944368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500" b="1" i="0">
                <a:solidFill>
                  <a:srgbClr val="DB2777"/>
                </a:solidFill>
                <a:latin typeface="Consolas"/>
              </a:rPr>
              <a:t>cart/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24242E"/>
                </a:solidFill>
                <a:latin typeface="Segoe UI"/>
              </a:rPr>
              <a:t>Panier d'achat</a:t>
            </a:r>
          </a:p>
          <a:p>
            <a:r>
              <a:rPr sz="1150" b="0" i="0">
                <a:solidFill>
                  <a:srgbClr val="24242E"/>
                </a:solidFill>
                <a:latin typeface="Segoe UI"/>
              </a:rPr>
              <a:t>persistant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370832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500" b="1" i="0">
                <a:solidFill>
                  <a:srgbClr val="D97706"/>
                </a:solidFill>
                <a:latin typeface="Consolas"/>
              </a:rPr>
              <a:t>orders/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24242E"/>
                </a:solidFill>
                <a:latin typeface="Segoe UI"/>
              </a:rPr>
              <a:t>Commandes</a:t>
            </a:r>
          </a:p>
          <a:p>
            <a:r>
              <a:rPr sz="1150" b="0" i="0">
                <a:solidFill>
                  <a:srgbClr val="24242E"/>
                </a:solidFill>
                <a:latin typeface="Segoe UI"/>
              </a:rPr>
              <a:t>&amp; checkout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4370832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62272" y="4370832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4572000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500" b="1" i="0">
                <a:solidFill>
                  <a:srgbClr val="0D9488"/>
                </a:solidFill>
                <a:latin typeface="Consolas"/>
              </a:rPr>
              <a:t>dashboard/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24242E"/>
                </a:solidFill>
                <a:latin typeface="Segoe UI"/>
              </a:rPr>
              <a:t>Statistiques</a:t>
            </a:r>
          </a:p>
          <a:p>
            <a:r>
              <a:rPr sz="1150" b="0" i="0">
                <a:solidFill>
                  <a:srgbClr val="24242E"/>
                </a:solidFill>
                <a:latin typeface="Segoe UI"/>
              </a:rPr>
              <a:t>&amp; administration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38744" y="4370832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9050">
            <a:solidFill>
              <a:srgbClr val="15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38744" y="4370832"/>
            <a:ext cx="3520440" cy="146304"/>
          </a:xfrm>
          <a:prstGeom prst="roundRect">
            <a:avLst>
              <a:gd name="adj" fmla="val 50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4572000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500" b="1" i="0">
                <a:solidFill>
                  <a:srgbClr val="159E5B"/>
                </a:solidFill>
                <a:latin typeface="Consolas"/>
              </a:rPr>
              <a:t>recommendation/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24242E"/>
                </a:solidFill>
                <a:latin typeface="Segoe UI"/>
              </a:rPr>
              <a:t>IA — TF-IDF</a:t>
            </a:r>
          </a:p>
          <a:p>
            <a:r>
              <a:rPr sz="1150" b="0" i="0">
                <a:solidFill>
                  <a:srgbClr val="24242E"/>
                </a:solidFill>
                <a:latin typeface="Segoe UI"/>
              </a:rPr>
              <a:t>+ cosinus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04  •  COMMENT CA FONCTIONNE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Cycle de vie d'une requete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400" b="0" i="1">
                <a:solidFill>
                  <a:srgbClr val="24242E"/>
                </a:solidFill>
                <a:latin typeface="Segoe UI"/>
              </a:rPr>
              <a:t>Exemple : un client valide sa commande (checkout).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9842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7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984247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475569"/>
                </a:solidFill>
                <a:latin typeface="Segoe UI"/>
              </a:rPr>
              <a:t>Navigateur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514599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Requete HTTPS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POST /checkout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27520" y="2331719"/>
            <a:ext cx="27432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9272" y="1874519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9842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984247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984247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0D9488"/>
                </a:solidFill>
                <a:latin typeface="Segoe UI"/>
              </a:rPr>
              <a:t>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514599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Reverse proxy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→ transmet a web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98152" y="2331719"/>
            <a:ext cx="27432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874519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19842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984247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984247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D97706"/>
                </a:solidFill>
                <a:latin typeface="Segoe UI"/>
              </a:rPr>
              <a:t>Gunicorn + URLconf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514599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Route l'URL vers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la bonne vue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568784" y="2331719"/>
            <a:ext cx="274320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0536" y="1874519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0264" y="19842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0264" y="1984247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1984247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DB2777"/>
                </a:solidFill>
                <a:latin typeface="Segoe UI"/>
              </a:rPr>
              <a:t>Middleware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514599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Auth, session,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CSRF, securite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893808" y="3261119"/>
            <a:ext cx="411480" cy="27432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60536" y="370332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0264" y="3813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4" y="3813048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8904" y="3813048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7C3AED"/>
                </a:solidFill>
                <a:latin typeface="Segoe UI"/>
              </a:rPr>
              <a:t>Vue (View)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343400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@login_required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transaction atomique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8576216" y="4160520"/>
            <a:ext cx="274320" cy="411480"/>
          </a:xfrm>
          <a:prstGeom prst="lef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89904" y="370332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99632" y="3813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3813048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3813048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2563EB"/>
                </a:solidFill>
                <a:latin typeface="Segoe UI"/>
              </a:rPr>
              <a:t>ORM → 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343400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Verif stock, cree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Order, decremente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5805584" y="4160520"/>
            <a:ext cx="274320" cy="411480"/>
          </a:xfrm>
          <a:prstGeom prst="lef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19272" y="370332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AF9FE"/>
          </a:solidFill>
          <a:ln w="19050">
            <a:solidFill>
              <a:srgbClr val="15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29000" y="3813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9000" y="3813048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40" y="3813048"/>
            <a:ext cx="1719072" cy="5029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159E5B"/>
                </a:solidFill>
                <a:latin typeface="Segoe UI"/>
              </a:rPr>
              <a:t>Template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65576" y="4343400"/>
            <a:ext cx="2194560" cy="65836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050" b="0" i="0">
                <a:solidFill>
                  <a:srgbClr val="24242E"/>
                </a:solidFill>
                <a:latin typeface="Segoe UI"/>
              </a:rPr>
              <a:t>Rend la page</a:t>
            </a:r>
          </a:p>
          <a:p>
            <a:r>
              <a:rPr sz="1050" b="0" i="0">
                <a:solidFill>
                  <a:srgbClr val="24242E"/>
                </a:solidFill>
                <a:latin typeface="Segoe UI"/>
              </a:rPr>
              <a:t>de confirmation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05  •  CONCEPTION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Modele de donnees — entites &amp;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300" b="0" i="1">
                <a:solidFill>
                  <a:srgbClr val="24242E"/>
                </a:solidFill>
                <a:latin typeface="Segoe UI"/>
              </a:rPr>
              <a:t>Patron en-tete / lignes pour le panier et la commande ; User natif Django etendu par un Profile (1–1).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22860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28600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86000"/>
            <a:ext cx="2066544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username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email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password (hash)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is_staff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84448"/>
            <a:ext cx="2286000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228600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40480"/>
            <a:ext cx="2066544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phone, address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city, postal_code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182880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2029968"/>
            <a:ext cx="2286000" cy="1828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828800"/>
            <a:ext cx="228600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286000"/>
            <a:ext cx="2066544" cy="8686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name, slug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description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created_at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3520440"/>
            <a:ext cx="2286000" cy="14630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66160" y="352044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3721608"/>
            <a:ext cx="2286000" cy="182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520440"/>
            <a:ext cx="228600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3977640"/>
            <a:ext cx="2066544" cy="9601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name, gender, price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image, stock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available, slug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82880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1828800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2029968"/>
            <a:ext cx="2103120" cy="18288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828800"/>
            <a:ext cx="210312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Cart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0256" y="2286000"/>
            <a:ext cx="1883664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user (1-1)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created_at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24612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3246120"/>
            <a:ext cx="2103120" cy="384048"/>
          </a:xfrm>
          <a:prstGeom prst="roundRect">
            <a:avLst>
              <a:gd name="adj" fmla="val 12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3447288"/>
            <a:ext cx="2103120" cy="18288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246120"/>
            <a:ext cx="210312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CartItem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0256" y="3703320"/>
            <a:ext cx="1883664" cy="594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quantity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subtotal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182880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15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0" y="1828800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2029968"/>
            <a:ext cx="2377440" cy="18288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828800"/>
            <a:ext cx="237744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Order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2016" y="2286000"/>
            <a:ext cx="215798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full_name, address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city, phone,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34290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15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44000" y="3429000"/>
            <a:ext cx="2377440" cy="384048"/>
          </a:xfrm>
          <a:prstGeom prst="roundRect">
            <a:avLst>
              <a:gd name="adj" fmla="val 12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3630168"/>
            <a:ext cx="2377440" cy="182880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429000"/>
            <a:ext cx="237744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OrderItem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016" y="3886200"/>
            <a:ext cx="2157984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product_name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price, quantity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subtotal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525780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74920" y="525780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74920" y="5458968"/>
            <a:ext cx="2286000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5257800"/>
            <a:ext cx="2286000" cy="38404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02936" y="5715000"/>
            <a:ext cx="2066544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rating 1-5, comment</a:t>
            </a:r>
          </a:p>
          <a:p>
            <a:pPr>
              <a:spcAft>
                <a:spcPts val="100"/>
              </a:spcAft>
            </a:pPr>
            <a:r>
              <a:rPr sz="1000" b="0" i="0">
                <a:solidFill>
                  <a:srgbClr val="24242E"/>
                </a:solidFill>
                <a:latin typeface="Segoe UI"/>
              </a:rPr>
              <a:t>unique(user, product)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783080" y="3063240"/>
            <a:ext cx="0" cy="320040"/>
          </a:xfrm>
          <a:prstGeom prst="bentConnector3">
            <a:avLst/>
          </a:prstGeom>
          <a:ln w="17780">
            <a:solidFill>
              <a:srgbClr val="6B6B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709160" y="3200400"/>
            <a:ext cx="0" cy="320040"/>
          </a:xfrm>
          <a:prstGeom prst="bentConnector3">
            <a:avLst/>
          </a:prstGeom>
          <a:ln w="17780">
            <a:solidFill>
              <a:srgbClr val="6B6B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43800" y="2926080"/>
            <a:ext cx="0" cy="320040"/>
          </a:xfrm>
          <a:prstGeom prst="bentConnector3">
            <a:avLst/>
          </a:prstGeom>
          <a:ln w="17780">
            <a:solidFill>
              <a:srgbClr val="6B6B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332720" y="3154680"/>
            <a:ext cx="0" cy="274320"/>
          </a:xfrm>
          <a:prstGeom prst="bentConnector3">
            <a:avLst/>
          </a:prstGeom>
          <a:ln w="17780">
            <a:solidFill>
              <a:srgbClr val="6B6B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852160" y="3794760"/>
            <a:ext cx="640080" cy="411480"/>
          </a:xfrm>
          <a:prstGeom prst="bentConnector3">
            <a:avLst/>
          </a:prstGeom>
          <a:ln w="17780">
            <a:solidFill>
              <a:srgbClr val="6B6B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100" b="0" i="1">
                <a:solidFill>
                  <a:srgbClr val="6B6B78"/>
                </a:solidFill>
                <a:latin typeface="Segoe UI"/>
              </a:rPr>
              <a:t>Prix et nom figes dans OrderItem a l'instant de l'achat.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06  •  LES CHOIX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Stack technologique &amp; justification des choix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2423160" cy="5349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1800" y="1298448"/>
            <a:ext cx="3246120" cy="5349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98448"/>
            <a:ext cx="5440680" cy="53492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224028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Segoe UI"/>
              </a:rPr>
              <a:t>Couche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Segoe UI"/>
              </a:rPr>
              <a:t>Technologie retenue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298448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Segoe UI"/>
              </a:rPr>
              <a:t>Pourquoi ce choix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33372"/>
            <a:ext cx="11109960" cy="534924"/>
          </a:xfrm>
          <a:prstGeom prst="rect">
            <a:avLst/>
          </a:prstGeom>
          <a:solidFill>
            <a:srgbClr val="F6F5FB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33372"/>
            <a:ext cx="64008" cy="5349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33372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833372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7C3AED"/>
                </a:solidFill>
                <a:latin typeface="Segoe UI"/>
              </a:rPr>
              <a:t>Django 5.0 / Python 3.11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833372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Framework batteries-included, ORM, admin &amp; securite integres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68296"/>
            <a:ext cx="1110996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68296"/>
            <a:ext cx="64008" cy="5349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68296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2368296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563EB"/>
                </a:solidFill>
                <a:latin typeface="Segoe UI"/>
              </a:rPr>
              <a:t>Templates + Bootstrap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368296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Rendu serveur simple, responsive, pas de SPA a maintenir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03220"/>
            <a:ext cx="11109960" cy="534924"/>
          </a:xfrm>
          <a:prstGeom prst="rect">
            <a:avLst/>
          </a:prstGeom>
          <a:solidFill>
            <a:srgbClr val="F6F5FB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903220"/>
            <a:ext cx="64008" cy="53492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03220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Base de donnees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81528" y="2903220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0D9488"/>
                </a:solidFill>
                <a:latin typeface="Segoe UI"/>
              </a:rPr>
              <a:t>PostgreSQL 16 (SQLite en dev)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903220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SGBD robuste pour la prod, demarrage instantane en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38144"/>
            <a:ext cx="1110996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438144"/>
            <a:ext cx="64008" cy="5349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38144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Fichiers statiques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81528" y="3438144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D97706"/>
                </a:solidFill>
                <a:latin typeface="Segoe UI"/>
              </a:rPr>
              <a:t>WhiteNoise (manifest + gzip)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38144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Sert les statiques sans service externe, cache long terme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73068"/>
            <a:ext cx="11109960" cy="534924"/>
          </a:xfrm>
          <a:prstGeom prst="rect">
            <a:avLst/>
          </a:prstGeom>
          <a:solidFill>
            <a:srgbClr val="F6F5FB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973068"/>
            <a:ext cx="64008" cy="534924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973068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Intelligence artif.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3973068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159E5B"/>
                </a:solidFill>
                <a:latin typeface="Segoe UI"/>
              </a:rPr>
              <a:t>scikit-learn (TF-IDF + cosinus)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3973068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Recommandation content-based legere, sans GPU ni API tierce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507992"/>
            <a:ext cx="1110996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507992"/>
            <a:ext cx="64008" cy="5349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507992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Serveur d'app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1528" y="4507992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D97706"/>
                </a:solidFill>
                <a:latin typeface="Segoe UI"/>
              </a:rPr>
              <a:t>Gunicorn (3 workers WSGI)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507992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Serveur WSGI eprouve, concurrence par workers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042916"/>
            <a:ext cx="11109960" cy="534924"/>
          </a:xfrm>
          <a:prstGeom prst="rect">
            <a:avLst/>
          </a:prstGeom>
          <a:solidFill>
            <a:srgbClr val="F6F5FB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042916"/>
            <a:ext cx="64008" cy="53492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042916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Reverse proxy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81528" y="5042916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0D9488"/>
                </a:solidFill>
                <a:latin typeface="Segoe UI"/>
              </a:rPr>
              <a:t>Nginx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042916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Sert statiques/medias, point d'entree unique, TLS-ready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577840"/>
            <a:ext cx="11109960" cy="534924"/>
          </a:xfrm>
          <a:prstGeom prst="rect">
            <a:avLst/>
          </a:prstGeom>
          <a:solidFill>
            <a:srgbClr val="FFFFFF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577840"/>
            <a:ext cx="64008" cy="5349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577840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Conteneurisation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81528" y="5577840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563EB"/>
                </a:solidFill>
                <a:latin typeface="Segoe UI"/>
              </a:rPr>
              <a:t>Docker &amp; Docker 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577840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Environnement reproductible, parite dev / prod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112764"/>
            <a:ext cx="11109960" cy="534924"/>
          </a:xfrm>
          <a:prstGeom prst="rect">
            <a:avLst/>
          </a:prstGeom>
          <a:solidFill>
            <a:srgbClr val="F6F5FB"/>
          </a:solidFill>
          <a:ln w="9525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6112764"/>
            <a:ext cx="64008" cy="53492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112764"/>
            <a:ext cx="219456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24242E"/>
                </a:solidFill>
                <a:latin typeface="Segoe UI"/>
              </a:rPr>
              <a:t>CI/CD &amp; registre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1528" y="6112764"/>
            <a:ext cx="306324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DB2777"/>
                </a:solidFill>
                <a:latin typeface="Segoe UI"/>
              </a:rPr>
              <a:t>GitHub Actions → GHCR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6112764"/>
            <a:ext cx="5257800" cy="5349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00" b="0" i="0">
                <a:solidFill>
                  <a:srgbClr val="6B6B78"/>
                </a:solidFill>
                <a:latin typeface="Segoe UI"/>
              </a:rPr>
              <a:t>Tests + build + publication automatises a chaque push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07  •  COMMENT C'EST CONSTRUIT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Brique d'IA — pipeline de recommandation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07008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F6F5FB"/>
          </a:solidFill>
          <a:ln w="1651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400" b="1" i="0">
                <a:solidFill>
                  <a:srgbClr val="7C3AED"/>
                </a:solidFill>
                <a:latin typeface="Segoe UI"/>
              </a:rPr>
              <a:t>Recommandation de produits similaires </a:t>
            </a:r>
            <a:r>
              <a:rPr sz="1300" b="0" i="0">
                <a:solidFill>
                  <a:srgbClr val="24242E"/>
                </a:solidFill>
                <a:latin typeface="Segoe UI"/>
              </a:rPr>
              <a:t>(content-based filtering) — bloc « Vous aimerez aussi » sur chaque fiche produit.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87752"/>
            <a:ext cx="2468880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Produit →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98648"/>
            <a:ext cx="2249424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nom (pondere) +</a:t>
            </a:r>
          </a:p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categorie + description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3960" y="2898648"/>
            <a:ext cx="292608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8" y="23317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7288" y="23317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2587752"/>
            <a:ext cx="2468880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TF-IDF (fit)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898648"/>
            <a:ext cx="2249424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entraine sur 20% du</a:t>
            </a:r>
          </a:p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catalogue, n-grammes 1-2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1168" y="2898648"/>
            <a:ext cx="292608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54496" y="23317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203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4496" y="23317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2587752"/>
            <a:ext cx="2468880" cy="2011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33172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898648"/>
            <a:ext cx="2249424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projection du catalogue</a:t>
            </a:r>
          </a:p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complet dans l'espace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38376" y="2898648"/>
            <a:ext cx="292608" cy="4114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61704" y="23317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20320">
            <a:solidFill>
              <a:srgbClr val="15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61704" y="23317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61704" y="2587752"/>
            <a:ext cx="2468880" cy="201168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61704" y="233172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onsolas"/>
              </a:rPr>
              <a:t>Similarite cosinus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898648"/>
            <a:ext cx="2249424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matrice produit-produit</a:t>
            </a:r>
          </a:p>
          <a:p>
            <a:pPr algn="ctr"/>
            <a:r>
              <a:rPr sz="1100" b="0" i="0">
                <a:solidFill>
                  <a:srgbClr val="24242E"/>
                </a:solidFill>
                <a:latin typeface="Segoe UI"/>
              </a:rPr>
              <a:t>→ les k plus proches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6F5FB"/>
          </a:solidFill>
          <a:ln w="1651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453128"/>
            <a:ext cx="493776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300" b="1" i="0">
                <a:solidFill>
                  <a:srgbClr val="0D9488"/>
                </a:solidFill>
                <a:latin typeface="Segoe UI"/>
              </a:rPr>
              <a:t>Optimisation — mise en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00600"/>
            <a:ext cx="493776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▸  </a:t>
            </a:r>
            <a:r>
              <a:rPr sz="1100" b="0" i="0">
                <a:solidFill>
                  <a:srgbClr val="24242E"/>
                </a:solidFill>
                <a:latin typeface="Segoe UI"/>
              </a:rPr>
              <a:t>Modele reconstruit seulement si la signature du catalogue change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▸  </a:t>
            </a:r>
            <a:r>
              <a:rPr sz="1100" b="0" i="0">
                <a:solidFill>
                  <a:srgbClr val="24242E"/>
                </a:solidFill>
                <a:latin typeface="Segoe UI"/>
              </a:rPr>
              <a:t>Evite de recalculer la matrice a chaque requete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F6F5FB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453128"/>
            <a:ext cx="493776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300" b="1" i="0">
                <a:solidFill>
                  <a:srgbClr val="D97706"/>
                </a:solidFill>
                <a:latin typeface="Segoe UI"/>
              </a:rPr>
              <a:t>Robustesse — repli (fallback)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00600"/>
            <a:ext cx="493776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D97706"/>
                </a:solidFill>
                <a:latin typeface="Segoe UI"/>
              </a:rPr>
              <a:t>▸  </a:t>
            </a:r>
            <a:r>
              <a:rPr sz="1100" b="0" i="0">
                <a:solidFill>
                  <a:srgbClr val="24242E"/>
                </a:solidFill>
                <a:latin typeface="Segoe UI"/>
              </a:rPr>
              <a:t>Aucun resultat ? → repli sur les produits de la meme categorie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D97706"/>
                </a:solidFill>
                <a:latin typeface="Segoe UI"/>
              </a:rPr>
              <a:t>▸  </a:t>
            </a:r>
            <a:r>
              <a:rPr sz="1100" b="0" i="0">
                <a:solidFill>
                  <a:srgbClr val="24242E"/>
                </a:solidFill>
                <a:latin typeface="Segoe UI"/>
              </a:rPr>
              <a:t>Stop-words FR constitues manuellement (absents de scikit-learn)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08  •  LES CHOIX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de securite — defense en profondeur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4023360"/>
          </a:xfrm>
          <a:prstGeom prst="roundRect">
            <a:avLst>
              <a:gd name="adj" fmla="val 7000"/>
            </a:avLst>
          </a:prstGeom>
          <a:solidFill>
            <a:srgbClr val="FAF9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356616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320040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Authentification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14600"/>
            <a:ext cx="310896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@login_required : panier, checkout, avis</a:t>
            </a:r>
          </a:p>
          <a:p>
            <a:pPr>
              <a:spcAft>
                <a:spcPts val="1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is_staff : dashboard &amp; espace admin</a:t>
            </a:r>
          </a:p>
          <a:p>
            <a:pPr>
              <a:spcAft>
                <a:spcPts val="1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Un client n'accede qu'a ses commandes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566160" cy="4023360"/>
          </a:xfrm>
          <a:prstGeom prst="roundRect">
            <a:avLst>
              <a:gd name="adj" fmla="val 7000"/>
            </a:avLst>
          </a:prstGeom>
          <a:solidFill>
            <a:srgbClr val="FAF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965960"/>
            <a:ext cx="356616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17320"/>
            <a:ext cx="320040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Protection des donnees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514600"/>
            <a:ext cx="310896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Mots de passe haches (+ 4 validators)</a:t>
            </a:r>
          </a:p>
          <a:p>
            <a:pPr>
              <a:spcAft>
                <a:spcPts val="140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Protection CSRF + validation serveur</a:t>
            </a:r>
          </a:p>
          <a:p>
            <a:pPr>
              <a:spcAft>
                <a:spcPts val="140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SECRET_KEY &amp; BDD dans .env non versionne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566160" cy="4023360"/>
          </a:xfrm>
          <a:prstGeom prst="roundRect">
            <a:avLst>
              <a:gd name="adj" fmla="val 7000"/>
            </a:avLst>
          </a:prstGeom>
          <a:solidFill>
            <a:srgbClr val="FAF9FE"/>
          </a:solidFill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965960"/>
            <a:ext cx="3566160" cy="3200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417320"/>
            <a:ext cx="320040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Durcissement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514600"/>
            <a:ext cx="310896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DEBUG=False, cookies securises</a:t>
            </a:r>
          </a:p>
          <a:p>
            <a:pPr>
              <a:spcAft>
                <a:spcPts val="1400"/>
              </a:spcAft>
            </a:pPr>
            <a:r>
              <a:rPr sz="125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HSTS, X-Frame-Options: DENY, nosniff</a:t>
            </a:r>
          </a:p>
          <a:p>
            <a:pPr>
              <a:spcAft>
                <a:spcPts val="1400"/>
              </a:spcAft>
            </a:pPr>
            <a:r>
              <a:rPr sz="125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24242E"/>
                </a:solidFill>
                <a:latin typeface="Segoe UI"/>
              </a:rPr>
              <a:t>Uploads limites : 2,5 Mo / 5 Mo (Nginx)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150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200" b="1" i="1">
                <a:solidFill>
                  <a:srgbClr val="7C3AED"/>
                </a:solidFill>
                <a:latin typeface="Segoe UI"/>
              </a:rPr>
              <a:t>Les mots de passe ne sont jamais stockes en clair  •  le .env n'est jamais publie (.gitignore)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08  •  COMMENT C'EST LIVRE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Conteneurisation &amp; deploiement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350" b="1" i="0">
                <a:solidFill>
                  <a:srgbClr val="24242E"/>
                </a:solidFill>
                <a:latin typeface="Segoe UI"/>
              </a:rPr>
              <a:t>Image basee sur python:3.11-slim. </a:t>
            </a:r>
            <a:r>
              <a:rPr sz="1350" b="0" i="0">
                <a:solidFill>
                  <a:srgbClr val="24242E"/>
                </a:solidFill>
                <a:latin typeface="Segoe UI"/>
              </a:rPr>
              <a:t>Docker Compose orchestre 3 services sur un reseau interne.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3246120" cy="23774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2032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286000"/>
            <a:ext cx="3246120" cy="228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324612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nginx</a:t>
            </a:r>
          </a:p>
          <a:p>
            <a:pPr algn="ctr"/>
            <a:r>
              <a:rPr sz="1050" b="0" i="0">
                <a:solidFill>
                  <a:srgbClr val="E9D5FF"/>
                </a:solidFill>
                <a:latin typeface="Segoe UI"/>
              </a:rPr>
              <a:t>Reverse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283464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Expose le port 80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Sert statiques &amp; medias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→ transmet a web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24800" y="2788920"/>
            <a:ext cx="292608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246120" cy="23774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82880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286000"/>
            <a:ext cx="3246120" cy="228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883664"/>
            <a:ext cx="324612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web</a:t>
            </a:r>
          </a:p>
          <a:p>
            <a:pPr algn="ctr"/>
            <a:r>
              <a:rPr sz="1050" b="0" i="0">
                <a:solidFill>
                  <a:srgbClr val="E9D5FF"/>
                </a:solidFill>
                <a:latin typeface="Segoe UI"/>
              </a:rPr>
              <a:t>Django + Gunicorn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80"/>
            <a:ext cx="283464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3 workers WSGI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entrypoint.sh idempotent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logique applicative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90960" y="2788920"/>
            <a:ext cx="292608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1828800"/>
            <a:ext cx="3246120" cy="2377440"/>
          </a:xfrm>
          <a:prstGeom prst="roundRect">
            <a:avLst>
              <a:gd name="adj" fmla="val 8000"/>
            </a:avLst>
          </a:prstGeom>
          <a:solidFill>
            <a:srgbClr val="FAF9FE"/>
          </a:solidFill>
          <a:ln w="2032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182880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24612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883664"/>
            <a:ext cx="324612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db</a:t>
            </a:r>
          </a:p>
          <a:p>
            <a:pPr algn="ctr"/>
            <a:r>
              <a:rPr sz="1050" b="0" i="0">
                <a:solidFill>
                  <a:srgbClr val="E9D5FF"/>
                </a:solidFill>
                <a:latin typeface="Segoe UI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283464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Volume persistant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Healthcheck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150" b="0" i="0">
                <a:solidFill>
                  <a:srgbClr val="24242E"/>
                </a:solidFill>
                <a:latin typeface="Segoe UI"/>
              </a:rPr>
              <a:t>reseau interne uniquement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17720"/>
            <a:ext cx="10881360" cy="1325880"/>
          </a:xfrm>
          <a:prstGeom prst="roundRect">
            <a:avLst>
              <a:gd name="adj" fmla="val 8000"/>
            </a:avLst>
          </a:prstGeom>
          <a:solidFill>
            <a:srgbClr val="F6F5FB"/>
          </a:solidFill>
          <a:ln w="1651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300" b="1" i="0">
                <a:solidFill>
                  <a:srgbClr val="D97706"/>
                </a:solidFill>
                <a:latin typeface="Segoe UI"/>
              </a:rPr>
              <a:t>entrypoint.sh (sequence de demarrage idempotente)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12064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69164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1" i="0">
                <a:solidFill>
                  <a:srgbClr val="24242E"/>
                </a:solidFill>
                <a:latin typeface="Segoe UI"/>
              </a:rPr>
              <a:t>Attendre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PostgreSQL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659760" y="5321808"/>
            <a:ext cx="24688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71800" y="512064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5120640"/>
            <a:ext cx="169164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1" i="0">
                <a:solidFill>
                  <a:srgbClr val="24242E"/>
                </a:solidFill>
                <a:latin typeface="Segoe UI"/>
              </a:rPr>
              <a:t>Appliquer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les migrations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762880" y="5321808"/>
            <a:ext cx="24688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74920" y="512064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5120640"/>
            <a:ext cx="169164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1" i="0">
                <a:solidFill>
                  <a:srgbClr val="24242E"/>
                </a:solidFill>
                <a:latin typeface="Segoe UI"/>
              </a:rPr>
              <a:t>Charger les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donnees (si vide)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866000" y="5321808"/>
            <a:ext cx="24688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78040" y="512064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5120640"/>
            <a:ext cx="169164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1" i="0">
                <a:solidFill>
                  <a:srgbClr val="24242E"/>
                </a:solidFill>
                <a:latin typeface="Segoe UI"/>
              </a:rPr>
              <a:t>collectstatic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969120" y="5321808"/>
            <a:ext cx="246888" cy="29260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81160" y="512064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5120640"/>
            <a:ext cx="169164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050" b="1" i="0">
                <a:solidFill>
                  <a:srgbClr val="24242E"/>
                </a:solidFill>
                <a:latin typeface="Segoe UI"/>
              </a:rPr>
              <a:t>Lancer</a:t>
            </a:r>
          </a:p>
          <a:p>
            <a:pPr algn="ctr"/>
            <a:r>
              <a:rPr sz="1050" b="0" i="0">
                <a:solidFill>
                  <a:srgbClr val="24242E"/>
                </a:solidFill>
                <a:latin typeface="Segoe UI"/>
              </a:rPr>
              <a:t>Gunicorn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08  •  COMMENT C'EST LIVRE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Pipeline CI/CD —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6F5FB"/>
          </a:solidFill>
          <a:ln w="1651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400" b="1" i="0">
                <a:solidFill>
                  <a:srgbClr val="7C3AED"/>
                </a:solidFill>
                <a:latin typeface="Segoe UI"/>
              </a:rPr>
              <a:t>Objectif : </a:t>
            </a:r>
            <a:r>
              <a:rPr sz="1300" b="0" i="0">
                <a:solidFill>
                  <a:srgbClr val="24242E"/>
                </a:solidFill>
                <a:latin typeface="Segoe UI"/>
              </a:rPr>
              <a:t>automatiser tests, qualite, build de l'image Docker et publication a chaque push sur 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103120" cy="2743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git push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E9D5FF"/>
                </a:solidFill>
                <a:latin typeface="Consolas"/>
              </a:rPr>
              <a:t>→ main</a:t>
            </a:r>
          </a:p>
          <a:p>
            <a:pPr algn="ctr">
              <a:spcBef>
                <a:spcPts val="1200"/>
              </a:spcBef>
            </a:pPr>
            <a:r>
              <a:rPr sz="1100" b="0" i="0">
                <a:solidFill>
                  <a:srgbClr val="C4B5FD"/>
                </a:solidFill>
                <a:latin typeface="Segoe UI"/>
              </a:rPr>
              <a:t>declenche
le workflow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3520440"/>
            <a:ext cx="411480" cy="5029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37744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FAF9FE"/>
          </a:solidFill>
          <a:ln w="2032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377440"/>
            <a:ext cx="3977639" cy="566928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743200"/>
            <a:ext cx="3977639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377440"/>
            <a:ext cx="3977639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JOB 1  —  Tests &amp; qualite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27248"/>
            <a:ext cx="3520439" cy="1920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Checkout du code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Python 3.11 + dependances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Analyse statique flake8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7C3AED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Migrations + tests (service PostgreSQL)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20199" y="3383280"/>
            <a:ext cx="292608" cy="5029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43799" y="2377440"/>
            <a:ext cx="3977639" cy="2743200"/>
          </a:xfrm>
          <a:prstGeom prst="roundRect">
            <a:avLst>
              <a:gd name="adj" fmla="val 6000"/>
            </a:avLst>
          </a:prstGeom>
          <a:solidFill>
            <a:srgbClr val="FAF9FE"/>
          </a:solidFill>
          <a:ln w="2032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799" y="2377440"/>
            <a:ext cx="3977639" cy="566928"/>
          </a:xfrm>
          <a:prstGeom prst="roundRect">
            <a:avLst>
              <a:gd name="adj" fmla="val 1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799" y="2743200"/>
            <a:ext cx="3977639" cy="20116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799" y="2377440"/>
            <a:ext cx="3977639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JOB 2  —  Build &amp; publication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3127248"/>
            <a:ext cx="3520439" cy="1920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Uniquement sur push → main  (needs: test)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Connexion a GHCR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docker build + push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DB2777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24242E"/>
                </a:solidFill>
                <a:latin typeface="Segoe UI"/>
              </a:rPr>
              <a:t>Tags : latest + SHA du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3035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200" b="0" i="1">
                <a:solidFill>
                  <a:srgbClr val="6B6B78"/>
                </a:solidFill>
                <a:latin typeface="Segoe UI"/>
              </a:rPr>
              <a:t>Resultat : une image Docker testee &amp; publiee, prete a deployer.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74320"/>
            <a:ext cx="91440" cy="5029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1088136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150" b="1" i="0">
                <a:solidFill>
                  <a:srgbClr val="E9D5FF"/>
                </a:solidFill>
                <a:latin typeface="Segoe UI"/>
              </a:rPr>
              <a:t>RECAPITULATIF DES CHOIX</a:t>
            </a:r>
          </a:p>
          <a:p>
            <a:r>
              <a:rPr sz="2700" b="1" i="0">
                <a:solidFill>
                  <a:srgbClr val="FFFFFF"/>
                </a:solidFill>
                <a:latin typeface="Segoe UI"/>
              </a:rPr>
              <a:t>Decisions d'architecture — synthese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7C3AED"/>
                </a:solidFill>
                <a:latin typeface="Segoe UI"/>
              </a:rPr>
              <a:t>Architecture modulaire (apps Django)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Separation des responsabilites, code reutilisable et testable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35608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2563EB"/>
                </a:solidFill>
                <a:latin typeface="Segoe UI"/>
              </a:rPr>
              <a:t>Patron MVT strict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Logique metier dans les vues, jamais dans les 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51176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551176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60904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DB2777"/>
                </a:solidFill>
                <a:latin typeface="Segoe UI"/>
              </a:rPr>
              <a:t>Panier persistant en base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Le panier survit a la deconnexion (1 Cart / utilisateur)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51176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551176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60904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D97706"/>
                </a:solidFill>
                <a:latin typeface="Segoe UI"/>
              </a:rPr>
              <a:t>Checkout en transaction atomique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Coherence garantie : verif stock + commande + decrement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76472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776472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159E5B"/>
                </a:solidFill>
                <a:latin typeface="Segoe UI"/>
              </a:rPr>
              <a:t>Prix &amp; nom figes dans OrderItem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L'historique reste exact meme si le produit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76472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3776472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86200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0D9488"/>
                </a:solidFill>
                <a:latin typeface="Segoe UI"/>
              </a:rPr>
              <a:t>Cache du modele IA par signature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Performance : pas de recalcul inutile de la similarite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01768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001768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111496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7C3AED"/>
                </a:solidFill>
                <a:latin typeface="Segoe UI"/>
              </a:rPr>
              <a:t>Repli par categorie (IA)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Une recommandation pertinente en toute circonstance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001768"/>
            <a:ext cx="5440680" cy="1078992"/>
          </a:xfrm>
          <a:prstGeom prst="roundRect">
            <a:avLst>
              <a:gd name="adj" fmla="val 10000"/>
            </a:avLst>
          </a:prstGeom>
          <a:solidFill>
            <a:srgbClr val="FAF9FE"/>
          </a:solidFill>
          <a:ln w="12700">
            <a:solidFill>
              <a:srgbClr val="DD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5001768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111496"/>
            <a:ext cx="4983480" cy="896112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50" b="1" i="0">
                <a:solidFill>
                  <a:srgbClr val="475569"/>
                </a:solidFill>
                <a:latin typeface="Segoe UI"/>
              </a:rPr>
              <a:t>Conteneurisation + CI/CD</a:t>
            </a:r>
          </a:p>
          <a:p>
            <a:pPr>
              <a:spcBef>
                <a:spcPts val="200"/>
              </a:spcBef>
            </a:pPr>
            <a:r>
              <a:rPr sz="1150" b="0" i="0">
                <a:solidFill>
                  <a:srgbClr val="6B6B78"/>
                </a:solidFill>
                <a:latin typeface="Segoe UI"/>
              </a:rPr>
              <a:t>Parite dev/prod, livraison automatisee et reproductible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822960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Architecture du systeme  •  2025-2026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37376"/>
            <a:ext cx="731520" cy="32918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103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242816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700" b="0" i="1">
                <a:solidFill>
                  <a:srgbClr val="E9D5FF"/>
                </a:solidFill>
                <a:latin typeface="Segoe UI"/>
              </a:rPr>
              <a:t>Une architecture modulaire, securisee, conteneurisee et livree en continu.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Ali Bouhamidi  &amp;  Said Aghrod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E9D5FF"/>
                </a:solidFill>
                <a:latin typeface="Segoe UI"/>
              </a:rPr>
              <a:t>Encadre par Prof. Bousselham  •  2025–2026</a:t>
            </a:r>
          </a:p>
          <a:p>
            <a:pPr algn="ctr">
              <a:spcBef>
                <a:spcPts val="1400"/>
              </a:spcBef>
            </a:pPr>
            <a:r>
              <a:rPr sz="1700" b="0" i="1">
                <a:solidFill>
                  <a:srgbClr val="C4B5FD"/>
                </a:solidFill>
                <a:latin typeface="Segoe U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