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24231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91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8229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600" b="0" i="0">
                <a:solidFill>
                  <a:srgbClr val="E9D5FF"/>
                </a:solidFill>
                <a:latin typeface="Segoe UI"/>
              </a:rPr>
              <a:t>Génie MIS  —  Module : Développement Web avec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10332720" cy="11887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Segoe UI"/>
              </a:rPr>
              <a:t>E-Shop Django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82296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0" i="1">
                <a:solidFill>
                  <a:srgbClr val="F3E8FF"/>
                </a:solidFill>
                <a:latin typeface="Segoe UI"/>
              </a:rPr>
              <a:t>Développement, sécurisation et déploiement d'une plateforme e-commerce moderne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983480"/>
            <a:ext cx="1033272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Segoe UI"/>
              </a:rPr>
              <a:t>Réalisé par  </a:t>
            </a:r>
            <a:r>
              <a:rPr sz="1800" b="1" i="0">
                <a:solidFill>
                  <a:srgbClr val="FFFFFF"/>
                </a:solidFill>
                <a:latin typeface="Segoe UI"/>
              </a:rPr>
              <a:t>Ali Bouhamidi  &amp;  Said Aghrod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E9D5FF"/>
                </a:solidFill>
                <a:latin typeface="Segoe UI"/>
              </a:rPr>
              <a:t>Encadré par  </a:t>
            </a:r>
            <a:r>
              <a:rPr sz="1600" b="1" i="0">
                <a:solidFill>
                  <a:srgbClr val="E9D5FF"/>
                </a:solidFill>
                <a:latin typeface="Segoe UI"/>
              </a:rPr>
              <a:t>Prof. Bousselham</a:t>
            </a:r>
          </a:p>
          <a:p>
            <a:pPr algn="ctr">
              <a:spcBef>
                <a:spcPts val="1000"/>
              </a:spcBef>
            </a:pPr>
            <a:r>
              <a:rPr sz="1400" b="0" i="0">
                <a:solidFill>
                  <a:srgbClr val="C4B5FD"/>
                </a:solidFill>
                <a:latin typeface="Segoe UI"/>
              </a:rPr>
              <a:t>Année universitaire 2025 –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Segoe UI"/>
              </a:rP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9496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01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Contexte &amp; problématique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02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Objectifs du projet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03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Analyse des besoins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04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Conception &amp; modèle de données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05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Architecture &amp; choix techniques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9496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06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Fonctionnalités de la plateforme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07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Intelligence artificielle (IA)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08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Sécurité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09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Déploiement &amp; CI/CD</a:t>
            </a:r>
          </a:p>
          <a:p>
            <a:pPr>
              <a:spcAft>
                <a:spcPts val="16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10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Démonstration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01  •  Contexte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Introduction générale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8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Le commerce électronique occupe une place centrale dans l'économie mondiale.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E-Shop Django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  : une plateforme e-commerce complète développée comme projet de fin de module.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Domaine retenu : une 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boutique de chaussures (dataset réel Myntra — fashion.csv).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Catalogue organisé par 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type de chaussure (sport, ville, talons, ballerines…) et par rayons Homme / Femme.</a:t>
            </a:r>
          </a:p>
          <a:p>
            <a:pPr>
              <a:spcAft>
                <a:spcPts val="1800"/>
              </a:spcAft>
            </a:pPr>
            <a:r>
              <a:rPr sz="18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800" b="1" i="0">
                <a:solidFill>
                  <a:srgbClr val="2D2D37"/>
                </a:solidFill>
                <a:latin typeface="Segoe UI"/>
              </a:rPr>
              <a:t>Objectif : une vraie </a:t>
            </a:r>
            <a:r>
              <a:rPr sz="1800" b="0" i="0">
                <a:solidFill>
                  <a:srgbClr val="2D2D37"/>
                </a:solidFill>
                <a:latin typeface="Segoe UI"/>
              </a:rPr>
              <a:t>application web professionnelle, pas un simple site vitrine.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01  •  Problématique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Contexte &amp; problématique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155448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/>
          <a:lstStyle/>
          <a:p>
            <a:pPr algn="ctr"/>
            <a:r>
              <a:rPr sz="1500" b="1" i="0">
                <a:solidFill>
                  <a:srgbClr val="7C3AED"/>
                </a:solidFill>
                <a:latin typeface="Segoe UI"/>
              </a:rPr>
              <a:t>Problématique</a:t>
            </a:r>
          </a:p>
          <a:p>
            <a:r>
              <a:rPr sz="1600" b="0" i="1">
                <a:solidFill>
                  <a:srgbClr val="2D2D37"/>
                </a:solidFill>
                <a:latin typeface="Segoe UI"/>
              </a:rPr>
              <a:t>Comment concevoir, développer, sécuriser et déployer une plateforme e-commerce moderne avec Django, tout en intégrant une fonctionnalité intelligente améliorant l'expérience utilisateur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698480" cy="30175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Organiser une application Django en modules cohérents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Gérer produits, catégories, clients et commandes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Sécuriser les accès selon les rôles des utilisateurs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Gérer un panier et un processus de commande fiable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Intégrer une fonctionnalité d'IA utile et préparer un déploiement réel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02  •  Objectifs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Objectifs du projet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Segoe UI"/>
              </a:rPr>
              <a:t>Objectif général :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développer une plateforme e-commerce permettant de consulter des produits, gérer un panier, passer commande et bénéficier d'une recommandation 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3931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Architecture Django modulaire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Modèles &amp; base PostgreSQL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Interfaces Templates + Bootstrap 5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Inscription, connexion, profils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Catalogue de produits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Panier d'achat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286000"/>
            <a:ext cx="5303520" cy="39319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Commandes &amp; suivi de statut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Tableau de bord administrateur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Fonctionnalité d'IA (recommandation)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Sécurisation de l'application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Conteneurisation Docker / Compose</a:t>
            </a:r>
          </a:p>
          <a:p>
            <a:pPr>
              <a:spcAft>
                <a:spcPts val="12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Pipeline CI/CD (GitHub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03  •  Besoins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Analyse des besoins — les acteurs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352044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331720"/>
            <a:ext cx="3520440" cy="3977639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72768"/>
            <a:ext cx="352044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Visiteur</a:t>
            </a:r>
          </a:p>
          <a:p>
            <a:pPr algn="ctr"/>
            <a:r>
              <a:rPr sz="1100" b="0" i="1">
                <a:solidFill>
                  <a:srgbClr val="E9D5FF"/>
                </a:solidFill>
                <a:latin typeface="Segoe UI"/>
              </a:rPr>
              <a:t>Utilisateur non authentifié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60320"/>
            <a:ext cx="3063240" cy="3566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Consulte accueil &amp; catalogue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Recherche / filtre les produits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Voit le détail produit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Crée un compte client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63040"/>
            <a:ext cx="352044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2331720"/>
            <a:ext cx="3520440" cy="3977639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72768"/>
            <a:ext cx="352044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Client</a:t>
            </a:r>
          </a:p>
          <a:p>
            <a:pPr algn="ctr"/>
            <a:r>
              <a:rPr sz="1100" b="0" i="1">
                <a:solidFill>
                  <a:srgbClr val="E9D5FF"/>
                </a:solidFill>
                <a:latin typeface="Segoe UI"/>
              </a:rPr>
              <a:t>Utilisateur authentifié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560320"/>
            <a:ext cx="3063240" cy="3566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Gère son profil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Ajoute au panier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Valide une commande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Suit ses commandes &amp; laisse un avis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463040"/>
            <a:ext cx="3520440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331720"/>
            <a:ext cx="3520440" cy="3977639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72768"/>
            <a:ext cx="3520440" cy="7315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Administrateur</a:t>
            </a:r>
          </a:p>
          <a:p>
            <a:pPr algn="ctr"/>
            <a:r>
              <a:rPr sz="1100" b="0" i="1">
                <a:solidFill>
                  <a:srgbClr val="E9D5FF"/>
                </a:solidFill>
                <a:latin typeface="Segoe UI"/>
              </a:rPr>
              <a:t>Gestionnaire de la plateforme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560320"/>
            <a:ext cx="3063240" cy="3566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Gère produits, catégories, stock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Fait évoluer le statut des commandes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Consulte la liste des clients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300" b="0" i="0">
                <a:solidFill>
                  <a:srgbClr val="2D2D37"/>
                </a:solidFill>
                <a:latin typeface="Segoe UI"/>
              </a:rPr>
              <a:t>Accède aux statistiques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03  •  Besoins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Besoins fonctionnels &amp; non fonctionnels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7C3AED"/>
                </a:solidFill>
                <a:latin typeface="Segoe UI"/>
              </a:rPr>
              <a:t>Fonctionnels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Gestion produits &amp; catégories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Catalogue : recherche, filtres, tri, pagination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Panier : ajout, quantité, total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Commandes : checkout, statut, historique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Avis clients (note + commentaire)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Tableau de bord &amp; recommandation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DB2777"/>
                </a:solidFill>
                <a:latin typeface="Segoe UI"/>
              </a:rPr>
              <a:t>Non fonctionnels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Sécurité (auth, CSRF, rôles)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Performance (requêtes optimisées, cache IA)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Portabilité (Docker)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Maintenabilité (modulaire, tests)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Ergonomie (responsive Bootstrap 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04  •  Conception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Architecture applicative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6400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0" i="0">
                <a:solidFill>
                  <a:srgbClr val="2D2D37"/>
                </a:solidFill>
                <a:latin typeface="Segoe UI"/>
              </a:rPr>
              <a:t>Architecture Django modulaire (patron </a:t>
            </a:r>
            <a:r>
              <a:rPr sz="1600" b="1" i="0">
                <a:solidFill>
                  <a:srgbClr val="7C3AED"/>
                </a:solidFill>
                <a:latin typeface="Segoe UI"/>
              </a:rPr>
              <a:t>MVT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) — chaque domaine métier isolé dans une application dédiée.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1488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2402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ecommerce_project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settings, urls, wsgi</a:t>
            </a:r>
          </a:p>
        </p:txBody>
      </p:sp>
      <p:sp>
        <p:nvSpPr>
          <p:cNvPr id="8" name="Rectangle 7"/>
          <p:cNvSpPr/>
          <p:nvPr/>
        </p:nvSpPr>
        <p:spPr>
          <a:xfrm>
            <a:off x="3547872" y="21488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2402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accounts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utilisateurs, profils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64224" y="21488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73952" y="22402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products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produits, catégories, avis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0576" y="21488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90304" y="22402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cart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panier d'achat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5204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6118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orders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commandes &amp; checkout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47872" y="35204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36118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dashboard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statistiques &amp; admin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64224" y="35204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36118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recommendation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IA — TF-IDF + cosinus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0576" y="3520440"/>
            <a:ext cx="2651760" cy="11430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3611880"/>
            <a:ext cx="2432304" cy="96012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400" b="1" i="0">
                <a:solidFill>
                  <a:srgbClr val="7C3AED"/>
                </a:solidFill>
                <a:latin typeface="Consolas"/>
              </a:rPr>
              <a:t>templates / static / media</a:t>
            </a:r>
          </a:p>
          <a:p>
            <a:r>
              <a:rPr sz="1100" b="0" i="0">
                <a:solidFill>
                  <a:srgbClr val="6B6B78"/>
                </a:solidFill>
                <a:latin typeface="Segoe UI"/>
              </a:rPr>
              <a:t>présentation &amp; fichiers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04  •  Stack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Choix technologiques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384048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371600"/>
            <a:ext cx="649224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71600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Django 5.0 (Python 3.11)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847088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847088"/>
            <a:ext cx="6492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1847088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847088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Templates Django + Bootstrap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322576"/>
            <a:ext cx="384048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322576"/>
            <a:ext cx="649224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2322576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Base de données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322576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PostgreSQL 16 (SQLite en local)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798064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2798064"/>
            <a:ext cx="6492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2798064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Authentification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2798064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Système natif de Django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273552"/>
            <a:ext cx="384048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54880" y="3273552"/>
            <a:ext cx="649224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3273552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Fichiers statiques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273552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WhiteNoise  •  médias : Pillow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749040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54880" y="3749040"/>
            <a:ext cx="6492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3749040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Intelligence artificielle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749040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scikit-learn — TF-IDF + similarité cosinus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4224528"/>
            <a:ext cx="384048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4224528"/>
            <a:ext cx="649224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224528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Serveur d'application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4224528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Gunicorn (3 workers WSGI)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700016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754880" y="4700016"/>
            <a:ext cx="6492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700016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Reverse proxy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4700016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Nginx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" y="5175504"/>
            <a:ext cx="384048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5175504"/>
            <a:ext cx="6492240" cy="475488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4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Conteneurisation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5175504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Docker &amp; Docker Compose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5650992"/>
            <a:ext cx="38404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5650992"/>
            <a:ext cx="6492240" cy="475488"/>
          </a:xfrm>
          <a:prstGeom prst="rect">
            <a:avLst/>
          </a:prstGeom>
          <a:solidFill>
            <a:srgbClr val="FFFFFF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560" y="5650992"/>
            <a:ext cx="365760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1" i="0">
                <a:solidFill>
                  <a:srgbClr val="7C3AED"/>
                </a:solidFill>
                <a:latin typeface="Segoe UI"/>
              </a:rPr>
              <a:t>CI/CD  &amp;  Registre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5650992"/>
            <a:ext cx="6309360" cy="475488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300" b="0" i="0">
                <a:solidFill>
                  <a:srgbClr val="2D2D37"/>
                </a:solidFill>
                <a:latin typeface="Segoe UI"/>
              </a:rPr>
              <a:t>GitHub Actions  →  GHCR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04  •  Conception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Modèle de données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78992" y="1508760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508760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User / Profile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Compte client + infos (téléphone, adresse)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21992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" y="2221992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21992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Category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Catégorie / type de chaussure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35224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935224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2935224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Product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Nom, genre, prix, image, stock, dispo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648456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78992" y="3648456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648456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Cart / CartItem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Panier persistant (1 par client) + lignes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61688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78992" y="4361688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361688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Order / OrderItem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Commande validée + lignes (prix figés)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5074920"/>
            <a:ext cx="164592" cy="60350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78992" y="5074920"/>
            <a:ext cx="10332720" cy="603504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80160" y="5074920"/>
            <a:ext cx="10058400" cy="603504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500" b="1" i="0">
                <a:solidFill>
                  <a:srgbClr val="7C3AED"/>
                </a:solidFill>
                <a:latin typeface="Consolas"/>
              </a:rPr>
              <a:t>Review   —  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Note 1–5 + commentaire (unique client/produit)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06  •  Fonctionnalités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Fonctionnalités — comptes &amp; catalogue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7C3AED"/>
                </a:solidFill>
                <a:latin typeface="Segoe UI"/>
              </a:rPr>
              <a:t>Comptes &amp; rôles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2801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Inscription : compte créé + connexion auto, Profile généré par signal post_save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Trois rôles : visiteur, client (authentifié), administrateur (is_staff)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DB2777"/>
                </a:solidFill>
                <a:latin typeface="Segoe UI"/>
              </a:rPr>
              <a:t>Catalogue, recherche &amp; filtres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10698480" cy="25603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Recherche plein texte (nom + description)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Filtres par catégorie et par genre (Homme / Femme)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Tri (prix, date, nom) et pagination (9 produits / page)</a:t>
            </a:r>
          </a:p>
          <a:p>
            <a:pPr>
              <a:spcAft>
                <a:spcPts val="10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Seuls les produits disponibles sont affichés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06  •  Fonctionnalités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Fonctionnalités — panier &amp; commandes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7C3AED"/>
                </a:solidFill>
                <a:latin typeface="Segoe UI"/>
              </a:rPr>
              <a:t>Panier d'achat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5303520" cy="4114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Panier persistant (1 Cart / utilisateur)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Ajout, mise à jour, suppression, vidage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Calcul du total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Quantités bornées par le stock disponible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0352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DB2777"/>
                </a:solidFill>
                <a:latin typeface="Segoe UI"/>
              </a:rPr>
              <a:t>Commandes &amp; checkout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5303520" cy="41148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Checkout en transaction atomique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Vérif. stock → création Order/OrderItem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Prix &amp; nom figés, décrément du stock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6 statuts : attente → livrée / annulée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Historique &amp; détail des commandes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07  •  IA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Intelligence artificielle — recommandation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91440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 i="0">
                <a:solidFill>
                  <a:srgbClr val="7C3AED"/>
                </a:solidFill>
                <a:latin typeface="Segoe UI"/>
              </a:rPr>
              <a:t>Recommandation de produits similaires</a:t>
            </a:r>
          </a:p>
          <a:p>
            <a:r>
              <a:rPr sz="1400" b="0" i="0">
                <a:solidFill>
                  <a:srgbClr val="2D2D37"/>
                </a:solidFill>
                <a:latin typeface="Segoe UI"/>
              </a:rPr>
              <a:t>Filtrage par contenu (content-based) affiché sous « Vous aimerez aussi » sur chaque fiche produit.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3657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2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Chaque produit → document texte (nom pondéré + catégorie + description)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TF-IDF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entraîné sur 20 % du catalogue (n-grammes 1–2, stop-words FR)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Catalogue complet projeté dans l'espace TF-IDF (transform)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Similarité cosinus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→ les k produits les plus proches</a:t>
            </a:r>
          </a:p>
          <a:p>
            <a:pPr>
              <a:spcAft>
                <a:spcPts val="12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Mise en cache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invalidée par la signature du catalogue + repli par catégorie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08  •  Sécurité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Sécurité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Authentification obligatoire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(panier, checkout, avis) via @login_required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Mots de passe hachés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par Django + 4 password validators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Protection CSRF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active &amp; validation des formulaires côté serveur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Contrôle des rôles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: dashboard/admin protégés par is_staff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Variables sensibles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(SECRET_KEY, BDD) dans un .env non versionné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DEBUG=False en production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: cookies sécurisés, HSTS, X-Frame-Options, nosniff</a:t>
            </a:r>
          </a:p>
          <a:p>
            <a:pPr>
              <a:spcAft>
                <a:spcPts val="13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1" i="0">
                <a:solidFill>
                  <a:srgbClr val="2D2D37"/>
                </a:solidFill>
                <a:latin typeface="Segoe UI"/>
              </a:rPr>
              <a:t>Taille des uploads limitée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 (2,5 Mo Django / 5 Mo Nginx)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09  •  Déploiement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Déploiement — Docker &amp; Docker Compose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700" b="1" i="0">
                <a:solidFill>
                  <a:srgbClr val="7C3AED"/>
                </a:solidFill>
                <a:latin typeface="Segoe UI"/>
              </a:rPr>
              <a:t>Conteneurisation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9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Image Docker basée sur python:3.11-slim</a:t>
            </a:r>
          </a:p>
          <a:p>
            <a:pPr>
              <a:spcAft>
                <a:spcPts val="9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entrypoint.sh : attend PostgreSQL → migrations → chargement des données → collectstatic → Gunicorn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0896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700" b="1" i="0">
                <a:solidFill>
                  <a:srgbClr val="DB2777"/>
                </a:solidFill>
                <a:latin typeface="Segoe UI"/>
              </a:rPr>
              <a:t>Orchestration locale — 3 services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657600"/>
            <a:ext cx="3474720" cy="146304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Consolas"/>
              </a:rPr>
              <a:t>db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D37"/>
                </a:solidFill>
                <a:latin typeface="Segoe UI"/>
              </a:rPr>
              <a:t>PostgreSQL 16 + volume + healthcheck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657600"/>
            <a:ext cx="3474720" cy="146304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37947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Consolas"/>
              </a:rPr>
              <a:t>web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D37"/>
                </a:solidFill>
                <a:latin typeface="Segoe UI"/>
              </a:rPr>
              <a:t>Django servi par Gunicorn (3 workers)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3657600"/>
            <a:ext cx="3474720" cy="146304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3794760"/>
            <a:ext cx="3108960" cy="118872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Consolas"/>
              </a:rPr>
              <a:t>nginx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D2D37"/>
                </a:solidFill>
                <a:latin typeface="Segoe UI"/>
              </a:rPr>
              <a:t>Reverse proxy (port 80) + fichiers statiques/médias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09  •  CI/CD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Pipeline CI/CD — GitHub Actions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868680"/>
          </a:xfrm>
          <a:prstGeom prst="rect">
            <a:avLst/>
          </a:prstGeom>
          <a:solidFill>
            <a:srgbClr val="F5F5FA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/>
            <a:r>
              <a:rPr sz="1500" b="1" i="0">
                <a:solidFill>
                  <a:srgbClr val="7C3AED"/>
                </a:solidFill>
                <a:latin typeface="Segoe UI"/>
              </a:rPr>
              <a:t>Objectif :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automatiser tests, qualité du code, build de l'image Docker et publication à chaque push sur main.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5120640" cy="6400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475488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① Tests &amp; qualité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154680"/>
            <a:ext cx="5120640" cy="2743200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83280"/>
            <a:ext cx="457200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Checkout du code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Python 3.11 + dépendances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Analyse statique flake8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Migrations + tests sur PostgreSQL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2514600"/>
            <a:ext cx="5120640" cy="64008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514600"/>
            <a:ext cx="4754880" cy="6400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Segoe UI"/>
              </a:rPr>
              <a:t>② Build &amp; publication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5080" y="3154680"/>
            <a:ext cx="5120640" cy="2743200"/>
          </a:xfrm>
          <a:prstGeom prst="rect">
            <a:avLst/>
          </a:prstGeom>
          <a:solidFill>
            <a:srgbClr val="F5F5FA"/>
          </a:solidFill>
          <a:ln>
            <a:solidFill>
              <a:srgbClr val="DDDD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3383280"/>
            <a:ext cx="4572000" cy="23774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Uniquement sur push → main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Connexion à GHCR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docker build + push</a:t>
            </a:r>
          </a:p>
          <a:p>
            <a:pPr>
              <a:spcAft>
                <a:spcPts val="1100"/>
              </a:spcAft>
            </a:pPr>
            <a:r>
              <a:rPr sz="14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400" b="0" i="0">
                <a:solidFill>
                  <a:srgbClr val="2D2D37"/>
                </a:solidFill>
                <a:latin typeface="Segoe UI"/>
              </a:rPr>
              <a:t>Tags : latest + SHA du commit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017520"/>
            <a:ext cx="12191695" cy="82296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37160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Segoe UI"/>
              </a:rPr>
              <a:t>Démonstration — captures d'écran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Page d'accueil — section « hero »</a:t>
            </a:r>
          </a:p>
        </p:txBody>
      </p:sp>
      <p:sp>
        <p:nvSpPr>
          <p:cNvPr id="5" name="Rectangle 4"/>
          <p:cNvSpPr/>
          <p:nvPr/>
        </p:nvSpPr>
        <p:spPr>
          <a:xfrm>
            <a:off x="1566565" y="1316355"/>
            <a:ext cx="9074109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accueil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090" y="1325880"/>
            <a:ext cx="9055059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Accès aux rayons Homme / Femme et mention des recommandations proposées par l'IA.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Accueil — types &amp; rayon Homme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9524" y="1316355"/>
            <a:ext cx="9128192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accueil-hom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9049" y="1325880"/>
            <a:ext cx="9109142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Types de chaussures et rayon « Chaussures Homme » sous forme de grille (prix en MAD).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Catalogue de produits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580909" y="1316355"/>
            <a:ext cx="9045421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catalog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0434" y="1325880"/>
            <a:ext cx="9026371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Grille avec filtres (genre, types) et tri — 250 produits disponibles.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Panier d'achat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1523495" y="1316355"/>
            <a:ext cx="9160250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pani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020" y="1325880"/>
            <a:ext cx="914120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Panier (ici vide) avec invitation à découvrir les produits.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Tableau de bord administrateur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1571413" y="1316355"/>
            <a:ext cx="9064414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0938" y="1325880"/>
            <a:ext cx="9045364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Indicateurs clés, meilleures ventes, commandes par statut, récentes et alertes de stock.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Démonstration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Interface d'administration Django</a:t>
            </a:r>
          </a:p>
        </p:txBody>
      </p:sp>
      <p:sp>
        <p:nvSpPr>
          <p:cNvPr id="5" name="Rectangle 4"/>
          <p:cNvSpPr/>
          <p:nvPr/>
        </p:nvSpPr>
        <p:spPr>
          <a:xfrm>
            <a:off x="1544684" y="1316355"/>
            <a:ext cx="9117871" cy="4453890"/>
          </a:xfrm>
          <a:prstGeom prst="rect">
            <a:avLst/>
          </a:prstGeom>
          <a:solidFill>
            <a:srgbClr val="FFFFFF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209" y="1325880"/>
            <a:ext cx="9098821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897880"/>
            <a:ext cx="10698480" cy="54864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1300" b="0" i="1">
                <a:solidFill>
                  <a:srgbClr val="6B6B78"/>
                </a:solidFill>
                <a:latin typeface="Segoe UI"/>
              </a:rPr>
              <a:t>Gestion CRUD : comptes, paniers, commandes, catégories, produits et avis.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Bilan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Difficultés rencontrées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45720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1" i="0">
                <a:solidFill>
                  <a:srgbClr val="2D2D37"/>
                </a:solidFill>
                <a:latin typeface="Segoe UI"/>
              </a:rPr>
              <a:t>Données réelles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 : import &amp; nettoyage du dataset Myntra (commande import_fashion)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1" i="0">
                <a:solidFill>
                  <a:srgbClr val="2D2D37"/>
                </a:solidFill>
                <a:latin typeface="Segoe UI"/>
              </a:rPr>
              <a:t>Recommandation en français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 : liste de stop-words FR constituée manuellement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1" i="0">
                <a:solidFill>
                  <a:srgbClr val="2D2D37"/>
                </a:solidFill>
                <a:latin typeface="Segoe UI"/>
              </a:rPr>
              <a:t>Performance de l'IA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 : mise en cache invalidée par la signature du catalogue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1" i="0">
                <a:solidFill>
                  <a:srgbClr val="2D2D37"/>
                </a:solidFill>
                <a:latin typeface="Segoe UI"/>
              </a:rPr>
              <a:t>Cohérence des commandes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 : transaction atomique avec vérification du stock</a:t>
            </a:r>
          </a:p>
          <a:p>
            <a:pPr>
              <a:spcAft>
                <a:spcPts val="1600"/>
              </a:spcAft>
            </a:pPr>
            <a:r>
              <a:rPr sz="16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600" b="1" i="0">
                <a:solidFill>
                  <a:srgbClr val="2D2D37"/>
                </a:solidFill>
                <a:latin typeface="Segoe UI"/>
              </a:rPr>
              <a:t>Initialisation en conteneur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 : entrypoint idempotent (attente BDD, migrations, données)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11064240" cy="86868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r>
              <a:rPr sz="1200" b="1" i="0">
                <a:solidFill>
                  <a:srgbClr val="E9D5FF"/>
                </a:solidFill>
                <a:latin typeface="Segoe UI"/>
              </a:rPr>
              <a:t>Bilan</a:t>
            </a:r>
          </a:p>
          <a:p>
            <a:r>
              <a:rPr sz="2800" b="1" i="0">
                <a:solidFill>
                  <a:srgbClr val="FFFFFF"/>
                </a:solidFill>
                <a:latin typeface="Segoe UI"/>
              </a:rPr>
              <a:t>Conclusion &amp; perspectives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698480" cy="13716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600" b="1" i="0">
                <a:solidFill>
                  <a:srgbClr val="7C3AED"/>
                </a:solidFill>
                <a:latin typeface="Segoe UI"/>
              </a:rPr>
              <a:t>Une plateforme e-commerce complète : </a:t>
            </a:r>
            <a:r>
              <a:rPr sz="1600" b="0" i="0">
                <a:solidFill>
                  <a:srgbClr val="2D2D37"/>
                </a:solidFill>
                <a:latin typeface="Segoe UI"/>
              </a:rPr>
              <a:t>architecture modulaire, gestion des rôles, catalogue, panier, commandes, avis, tableau de bord et recommandation IA (TF-IDF + cosinus) — conteneurisée (Docker, Nginx + Gunicorn + PostgreSQL) et livrée via CI/CD.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1800" b="1" i="0">
                <a:solidFill>
                  <a:srgbClr val="DB2777"/>
                </a:solidFill>
                <a:latin typeface="Segoe UI"/>
              </a:rPr>
              <a:t>Perspectives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10698480" cy="274320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Recommandation personnalisée (historique d'achat &amp; navigation)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Paiement en ligne (Stripe, PayPal)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API REST (Django REST Framework) pour une application mobile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Moteur de recherche avancé &amp; gestion des promotions</a:t>
            </a:r>
          </a:p>
          <a:p>
            <a:pPr>
              <a:spcAft>
                <a:spcPts val="1100"/>
              </a:spcAft>
            </a:pPr>
            <a:r>
              <a:rPr sz="1500" b="1" i="0">
                <a:solidFill>
                  <a:srgbClr val="DB2777"/>
                </a:solidFill>
                <a:latin typeface="Segoe UI"/>
              </a:rPr>
              <a:t>▸ </a:t>
            </a:r>
            <a:r>
              <a:rPr sz="1500" b="0" i="0">
                <a:solidFill>
                  <a:srgbClr val="2D2D37"/>
                </a:solidFill>
                <a:latin typeface="Segoe UI"/>
              </a:rPr>
              <a:t>Déploiement continu + scans de sécurité des dépendances et de l'image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19088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r>
              <a:rPr sz="900" b="0" i="1">
                <a:solidFill>
                  <a:srgbClr val="6B6B78"/>
                </a:solidFill>
                <a:latin typeface="Segoe UI"/>
              </a:rPr>
              <a:t>E-Shop Django  •  Projet de fin de module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36576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r"/>
            <a:r>
              <a:rPr sz="900" b="0" i="0">
                <a:solidFill>
                  <a:srgbClr val="6B6B78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9144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463040"/>
          </a:xfrm>
          <a:prstGeom prst="rect">
            <a:avLst/>
          </a:prstGeom>
          <a:noFill/>
        </p:spPr>
        <p:txBody>
          <a:bodyPr wrap="square" anchor="ctr" lIns="45720" rIns="45720" tIns="0" bIns="0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Segoe UI"/>
              </a:rPr>
              <a:t>Merci de votre attention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noFill/>
        </p:spPr>
        <p:txBody>
          <a:bodyPr wrap="square" anchor="t" lIns="45720" rIns="45720" tIns="0" bIns="0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Ali Bouhamidi  &amp;  Said Aghrod</a:t>
            </a:r>
          </a:p>
          <a:p>
            <a:pPr algn="ctr">
              <a:spcBef>
                <a:spcPts val="600"/>
              </a:spcBef>
            </a:pPr>
            <a:r>
              <a:rPr sz="1500" b="0" i="0">
                <a:solidFill>
                  <a:srgbClr val="E9D5FF"/>
                </a:solidFill>
                <a:latin typeface="Segoe UI"/>
              </a:rPr>
              <a:t>Encadré par Prof. Bousselham  •  2025–2026</a:t>
            </a:r>
          </a:p>
          <a:p>
            <a:pPr algn="ctr">
              <a:spcBef>
                <a:spcPts val="1400"/>
              </a:spcBef>
            </a:pPr>
            <a:r>
              <a:rPr sz="1800" b="0" i="1">
                <a:solidFill>
                  <a:srgbClr val="C4B5FD"/>
                </a:solidFill>
                <a:latin typeface="Segoe U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